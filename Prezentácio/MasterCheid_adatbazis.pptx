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1"/>
  </p:notesMasterIdLst>
  <p:handoutMasterIdLst>
    <p:handoutMasterId r:id="rId12"/>
  </p:handoutMasterIdLst>
  <p:sldIdLst>
    <p:sldId id="257" r:id="rId2"/>
    <p:sldId id="261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 rtl="0">
      <a:defRPr lang="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1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26" autoAdjust="0"/>
    <p:restoredTop sz="86449" autoAdjust="0"/>
  </p:normalViewPr>
  <p:slideViewPr>
    <p:cSldViewPr snapToGrid="0">
      <p:cViewPr varScale="1">
        <p:scale>
          <a:sx n="74" d="100"/>
          <a:sy n="74" d="100"/>
        </p:scale>
        <p:origin x="39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7D7A4F5-886D-4151-9457-1471BF1FB636}" type="datetime1">
              <a:rPr lang="hu-HU" smtClean="0"/>
              <a:t>2025. 12. 04.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1A8EE09-76CC-4000-B080-9F213DA7DCE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3068D04E-78D3-424D-A4E7-479B0D650A26}"/>
              </a:ext>
            </a:extLst>
          </p:cNvPr>
          <p:cNvSpPr txBox="1"/>
          <p:nvPr/>
        </p:nvSpPr>
        <p:spPr>
          <a:xfrm>
            <a:off x="10346636" y="4094922"/>
            <a:ext cx="45719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3868124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85436A7-5C4D-45A2-B14B-77F4C771914D}" type="datetime1">
              <a:rPr lang="hu-HU" smtClean="0"/>
              <a:t>2025. 12. 04.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"/>
              <a:t>Mintaszöveg szerkesztése</a:t>
            </a:r>
            <a:endParaRPr lang="en-US"/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8E40627-AA7D-471F-B5F2-0BF9E4C68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45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F85436A7-5C4D-45A2-B14B-77F4C771914D}" type="datetime1">
              <a:rPr lang="hu-HU" smtClean="0"/>
              <a:t>2025. 12. 04.</a:t>
            </a:fld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8E40627-AA7D-471F-B5F2-0BF9E4C68E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313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Téglalap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Téglalap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Téglalap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Csoport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Egyenes összekötő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gyenes összekötő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60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20" name="Dátum helye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4980AEA5-5A68-4800-BAB4-4160DA64B432}" type="datetime1">
              <a:rPr lang="hu-HU" smtClean="0"/>
              <a:t>2025. 12. 04.</a:t>
            </a:fld>
            <a:endParaRPr lang="en-US" dirty="0"/>
          </a:p>
        </p:txBody>
      </p:sp>
      <p:sp>
        <p:nvSpPr>
          <p:cNvPr id="21" name="Élőláb helye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Dia számának helye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FBBC46-FD46-4232-8D25-D1021A4A7771}" type="datetime1">
              <a:rPr lang="hu-HU" smtClean="0"/>
              <a:t>2025. 12. 04.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Téglalap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Téglalap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Téglalap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60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grpSp>
        <p:nvGrpSpPr>
          <p:cNvPr id="16" name="Csoport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Egyenes összekötő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gyenes összekötő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87F1BA0F-5E67-4960-9496-5CFEDCB3F4E1}" type="datetime1">
              <a:rPr lang="hu-HU" smtClean="0"/>
              <a:t>2025. 12. 04.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CFF786-7ABE-4AF0-A00B-AE77E1CE1839}" type="datetime1">
              <a:rPr lang="hu-HU" smtClean="0"/>
              <a:t>2025. 12. 04.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E48ACE-D58D-4B63-8332-712520A93456}" type="datetime1">
              <a:rPr lang="hu-HU" smtClean="0"/>
              <a:t>2025. 12. 04.</a:t>
            </a:fld>
            <a:endParaRPr lang="en-US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617AC-8C24-427A-AEBA-C77913CF11AD}" type="datetime1">
              <a:rPr lang="hu-HU" smtClean="0"/>
              <a:t>2025. 12. 04.</a:t>
            </a:fld>
            <a:endParaRPr lang="en-US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42F0D6-943D-4101-A2F0-112C00003971}" type="datetime1">
              <a:rPr lang="hu-HU" smtClean="0"/>
              <a:t>2025. 12. 04.</a:t>
            </a:fld>
            <a:endParaRPr lang="en-US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églalap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8" name="Dátum helye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B0190C69-DBE4-4C5C-81BD-97E0A49221CB}" type="datetime1">
              <a:rPr lang="hu-HU" smtClean="0"/>
              <a:t>2025. 12. 04.</a:t>
            </a:fld>
            <a:endParaRPr lang="en-US"/>
          </a:p>
        </p:txBody>
      </p:sp>
      <p:sp>
        <p:nvSpPr>
          <p:cNvPr id="9" name="Élőláb helye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Dia számának helye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FCF291FA-20C6-4E11-B33E-1629160BE232}" type="datetime1">
              <a:rPr lang="hu-HU" smtClean="0"/>
              <a:t>2025. 12. 04.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C6AA6D-6DCD-4903-B150-7DC0E96A72B9}" type="datetime1">
              <a:rPr lang="hu-HU" smtClean="0"/>
              <a:t>2025. 12. 04.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128820-4F6E-4997-9101-5EA1D2F6EB46}" type="datetime1">
              <a:rPr lang="hu-HU" smtClean="0"/>
              <a:t>2025. 12. 04.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Téglalap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Téglalap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Téglalap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hu"/>
              <a:t>Mintacím stílusának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0B3A57C-E319-44F0-BAB4-0276974ABAAB}" type="datetime1">
              <a:rPr lang="hu-HU" smtClean="0"/>
              <a:t>2025. 12. 04.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Szövetet, asztalt, piros, letakarva ábrázoló kép&#10;&#10;Automatikusan létrehozott leírás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Téglalap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Téglalap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 rtlCol="0">
            <a:normAutofit/>
          </a:bodyPr>
          <a:lstStyle/>
          <a:p>
            <a:pPr rtl="0"/>
            <a:r>
              <a:rPr lang="hu" sz="2800" dirty="0">
                <a:solidFill>
                  <a:schemeClr val="tx1"/>
                </a:solidFill>
              </a:rPr>
              <a:t>MasterCheif ( Nexusdev)</a:t>
            </a:r>
            <a:br>
              <a:rPr lang="hu" sz="2800" dirty="0">
                <a:solidFill>
                  <a:schemeClr val="tx1"/>
                </a:solidFill>
              </a:rPr>
            </a:br>
            <a:r>
              <a:rPr lang="hu" sz="2800" dirty="0">
                <a:solidFill>
                  <a:schemeClr val="tx1"/>
                </a:solidFill>
              </a:rPr>
              <a:t>Adatbázis Bemutató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 rtlCol="0">
            <a:normAutofit fontScale="92500" lnSpcReduction="20000"/>
          </a:bodyPr>
          <a:lstStyle/>
          <a:p>
            <a:pPr rtl="0"/>
            <a:r>
              <a:rPr lang="hu" dirty="0">
                <a:solidFill>
                  <a:schemeClr val="tx1"/>
                </a:solidFill>
              </a:rPr>
              <a:t>Készítette.: Medgyes Vendel, Farkas Miklós, Simó Zsolt</a:t>
            </a:r>
          </a:p>
        </p:txBody>
      </p:sp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4CD0338-4EEF-4AAE-B38B-291EDA06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42F0D6-943D-4101-A2F0-112C00003971}" type="datetime1">
              <a:rPr lang="hu-HU" smtClean="0"/>
              <a:t>2025. 12. 04.</a:t>
            </a:fld>
            <a:endParaRPr lang="en-US"/>
          </a:p>
        </p:txBody>
      </p:sp>
      <p:pic>
        <p:nvPicPr>
          <p:cNvPr id="3" name="Kép 2" descr="Szövetet, asztalt, piros, letakarva ábrázoló kép&#10;&#10;Automatikusan létrehozott leírás">
            <a:extLst>
              <a:ext uri="{FF2B5EF4-FFF2-40B4-BE49-F238E27FC236}">
                <a16:creationId xmlns:a16="http://schemas.microsoft.com/office/drawing/2014/main" id="{0305DB88-2456-4640-8FB7-17451448D1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" name="Téglalap 7">
            <a:extLst>
              <a:ext uri="{FF2B5EF4-FFF2-40B4-BE49-F238E27FC236}">
                <a16:creationId xmlns:a16="http://schemas.microsoft.com/office/drawing/2014/main" id="{DE656A9F-BF8B-4E3D-B18F-587735E6620F}"/>
              </a:ext>
            </a:extLst>
          </p:cNvPr>
          <p:cNvSpPr/>
          <p:nvPr/>
        </p:nvSpPr>
        <p:spPr>
          <a:xfrm>
            <a:off x="688452" y="323909"/>
            <a:ext cx="4671487" cy="3781164"/>
          </a:xfrm>
          <a:prstGeom prst="rect">
            <a:avLst/>
          </a:prstGeom>
          <a:solidFill>
            <a:srgbClr val="FF0000">
              <a:alpha val="6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88A61A8-9C01-4A2E-9C55-15F5DE229786}"/>
              </a:ext>
            </a:extLst>
          </p:cNvPr>
          <p:cNvSpPr txBox="1"/>
          <p:nvPr/>
        </p:nvSpPr>
        <p:spPr>
          <a:xfrm>
            <a:off x="688453" y="377817"/>
            <a:ext cx="4966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</a:rPr>
              <a:t>Alap ötlet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8EBAC4E-5E90-44BB-8A2D-AB631891A66C}"/>
              </a:ext>
            </a:extLst>
          </p:cNvPr>
          <p:cNvSpPr txBox="1"/>
          <p:nvPr/>
        </p:nvSpPr>
        <p:spPr>
          <a:xfrm>
            <a:off x="688453" y="1085301"/>
            <a:ext cx="53617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1" dirty="0">
                <a:solidFill>
                  <a:schemeClr val="bg1"/>
                </a:solidFill>
              </a:rPr>
              <a:t>Vállalkozás szimulálása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1" dirty="0">
                <a:solidFill>
                  <a:schemeClr val="bg1"/>
                </a:solidFill>
              </a:rPr>
              <a:t>Szolgáltatás nyújtás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E77A895-56B2-4025-BA53-4ECD8FC36147}"/>
              </a:ext>
            </a:extLst>
          </p:cNvPr>
          <p:cNvSpPr txBox="1"/>
          <p:nvPr/>
        </p:nvSpPr>
        <p:spPr>
          <a:xfrm>
            <a:off x="688453" y="3609390"/>
            <a:ext cx="3293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</a:rPr>
              <a:t>Példák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6992E39-37AE-4F85-B952-C3AB3BBF6678}"/>
              </a:ext>
            </a:extLst>
          </p:cNvPr>
          <p:cNvSpPr txBox="1"/>
          <p:nvPr/>
        </p:nvSpPr>
        <p:spPr>
          <a:xfrm>
            <a:off x="688453" y="1838942"/>
            <a:ext cx="5029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Célközönség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chemeClr val="bg1"/>
                </a:solidFill>
              </a:rPr>
              <a:t>Egyéni vállalkozok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chemeClr val="bg1"/>
                </a:solidFill>
              </a:rPr>
              <a:t>Cégek, vállalatok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chemeClr val="bg1"/>
                </a:solidFill>
              </a:rPr>
              <a:t>Átlag ember akinek van egy jó ötlete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83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3524F2E-1F0A-47EF-A80B-02F9F2C25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42F0D6-943D-4101-A2F0-112C00003971}" type="datetime1">
              <a:rPr lang="hu-HU" smtClean="0"/>
              <a:t>2025. 12. 04.</a:t>
            </a:fld>
            <a:endParaRPr lang="en-US"/>
          </a:p>
        </p:txBody>
      </p:sp>
      <p:pic>
        <p:nvPicPr>
          <p:cNvPr id="3" name="Kép 2" descr="Szövetet, asztalt, piros, letakarva ábrázoló kép&#10;&#10;Automatikusan létrehozott leírás">
            <a:extLst>
              <a:ext uri="{FF2B5EF4-FFF2-40B4-BE49-F238E27FC236}">
                <a16:creationId xmlns:a16="http://schemas.microsoft.com/office/drawing/2014/main" id="{6B1F7C40-EBF4-4EF5-B03F-97D23C6C14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7" name="Téglalap 6">
            <a:extLst>
              <a:ext uri="{FF2B5EF4-FFF2-40B4-BE49-F238E27FC236}">
                <a16:creationId xmlns:a16="http://schemas.microsoft.com/office/drawing/2014/main" id="{D54E4B40-5E67-47F7-9C46-80317BB4223C}"/>
              </a:ext>
            </a:extLst>
          </p:cNvPr>
          <p:cNvSpPr/>
          <p:nvPr/>
        </p:nvSpPr>
        <p:spPr>
          <a:xfrm>
            <a:off x="571500" y="145473"/>
            <a:ext cx="2949913" cy="707886"/>
          </a:xfrm>
          <a:prstGeom prst="rect">
            <a:avLst/>
          </a:prstGeom>
          <a:solidFill>
            <a:srgbClr val="FF0000">
              <a:alpha val="6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35CD7B0-5BCC-4AFA-975A-C08AE81EB6D7}"/>
              </a:ext>
            </a:extLst>
          </p:cNvPr>
          <p:cNvSpPr txBox="1"/>
          <p:nvPr/>
        </p:nvSpPr>
        <p:spPr>
          <a:xfrm>
            <a:off x="580785" y="114070"/>
            <a:ext cx="5881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dirty="0">
                <a:solidFill>
                  <a:schemeClr val="bg1"/>
                </a:solidFill>
              </a:rPr>
              <a:t>Alap terv 1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A416481-01E0-4618-B056-52A841FE6C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552" y="936015"/>
            <a:ext cx="9908896" cy="583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69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43A5529-45D7-475D-95E9-092E10A3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42F0D6-943D-4101-A2F0-112C00003971}" type="datetime1">
              <a:rPr lang="hu-HU" smtClean="0"/>
              <a:t>2025. 12. 04.</a:t>
            </a:fld>
            <a:endParaRPr lang="en-US"/>
          </a:p>
        </p:txBody>
      </p:sp>
      <p:pic>
        <p:nvPicPr>
          <p:cNvPr id="4" name="Kép 3" descr="Szövetet, asztalt, piros, letakarva ábrázoló kép&#10;&#10;Automatikusan létrehozott leírás">
            <a:extLst>
              <a:ext uri="{FF2B5EF4-FFF2-40B4-BE49-F238E27FC236}">
                <a16:creationId xmlns:a16="http://schemas.microsoft.com/office/drawing/2014/main" id="{701C03E5-E872-4883-97DD-CFAB2B7C7B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" y="0"/>
            <a:ext cx="12191979" cy="685799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700BE6F-F950-4132-91BA-54CDA723F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962" y="222035"/>
            <a:ext cx="8848075" cy="641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C48F02D-3596-4136-A680-8E90B125B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42F0D6-943D-4101-A2F0-112C00003971}" type="datetime1">
              <a:rPr lang="hu-HU" smtClean="0"/>
              <a:t>2025. 12. 04.</a:t>
            </a:fld>
            <a:endParaRPr lang="en-US"/>
          </a:p>
        </p:txBody>
      </p:sp>
      <p:pic>
        <p:nvPicPr>
          <p:cNvPr id="3" name="Kép 2" descr="Szövetet, asztalt, piros, letakarva ábrázoló kép&#10;&#10;Automatikusan létrehozott leírás">
            <a:extLst>
              <a:ext uri="{FF2B5EF4-FFF2-40B4-BE49-F238E27FC236}">
                <a16:creationId xmlns:a16="http://schemas.microsoft.com/office/drawing/2014/main" id="{71E790BA-26B4-45E7-B31A-F60425C7F5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" y="0"/>
            <a:ext cx="12191979" cy="6857990"/>
          </a:xfrm>
          <a:prstGeom prst="rect">
            <a:avLst/>
          </a:prstGeom>
        </p:spPr>
      </p:pic>
      <p:sp>
        <p:nvSpPr>
          <p:cNvPr id="8" name="Téglalap 7">
            <a:extLst>
              <a:ext uri="{FF2B5EF4-FFF2-40B4-BE49-F238E27FC236}">
                <a16:creationId xmlns:a16="http://schemas.microsoft.com/office/drawing/2014/main" id="{532ECF9D-5F5A-4EC6-8BE1-BFA413C0C660}"/>
              </a:ext>
            </a:extLst>
          </p:cNvPr>
          <p:cNvSpPr/>
          <p:nvPr/>
        </p:nvSpPr>
        <p:spPr>
          <a:xfrm>
            <a:off x="36680" y="100173"/>
            <a:ext cx="4827150" cy="484602"/>
          </a:xfrm>
          <a:prstGeom prst="rect">
            <a:avLst/>
          </a:prstGeom>
          <a:solidFill>
            <a:srgbClr val="FF0000">
              <a:alpha val="6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CD58EAC-C2DC-4BB7-B850-F67D0DB3C662}"/>
              </a:ext>
            </a:extLst>
          </p:cNvPr>
          <p:cNvSpPr txBox="1"/>
          <p:nvPr/>
        </p:nvSpPr>
        <p:spPr>
          <a:xfrm>
            <a:off x="36680" y="50086"/>
            <a:ext cx="5940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</a:rPr>
              <a:t>Adatbázis végleges terv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97C1CFC-E56A-4455-A221-CC0F37699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928" y="457200"/>
            <a:ext cx="6822311" cy="623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16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A80410A-9D78-4693-B27C-7EF67F151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42F0D6-943D-4101-A2F0-112C00003971}" type="datetime1">
              <a:rPr lang="hu-HU" smtClean="0"/>
              <a:t>2025. 12. 04.</a:t>
            </a:fld>
            <a:endParaRPr lang="en-US"/>
          </a:p>
        </p:txBody>
      </p:sp>
      <p:pic>
        <p:nvPicPr>
          <p:cNvPr id="3" name="Kép 2" descr="Szövetet, asztalt, piros, letakarva ábrázoló kép&#10;&#10;Automatikusan létrehozott leírás">
            <a:extLst>
              <a:ext uri="{FF2B5EF4-FFF2-40B4-BE49-F238E27FC236}">
                <a16:creationId xmlns:a16="http://schemas.microsoft.com/office/drawing/2014/main" id="{5825180A-FA6F-4B5B-96CB-88E91A7FC5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" y="0"/>
            <a:ext cx="12191979" cy="6857990"/>
          </a:xfrm>
          <a:prstGeom prst="rect">
            <a:avLst/>
          </a:prstGeom>
        </p:spPr>
      </p:pic>
      <p:sp>
        <p:nvSpPr>
          <p:cNvPr id="7" name="Téglalap 6">
            <a:extLst>
              <a:ext uri="{FF2B5EF4-FFF2-40B4-BE49-F238E27FC236}">
                <a16:creationId xmlns:a16="http://schemas.microsoft.com/office/drawing/2014/main" id="{AD6E1448-7CD3-4449-9007-C7AD3460CC65}"/>
              </a:ext>
            </a:extLst>
          </p:cNvPr>
          <p:cNvSpPr/>
          <p:nvPr/>
        </p:nvSpPr>
        <p:spPr>
          <a:xfrm>
            <a:off x="243191" y="243191"/>
            <a:ext cx="4671487" cy="584775"/>
          </a:xfrm>
          <a:prstGeom prst="rect">
            <a:avLst/>
          </a:prstGeom>
          <a:solidFill>
            <a:srgbClr val="FF0000">
              <a:alpha val="6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232E1BC-42C8-4F34-B1A3-7260DAFC2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104" y="2724823"/>
            <a:ext cx="7952525" cy="4004665"/>
          </a:xfrm>
          <a:prstGeom prst="rect">
            <a:avLst/>
          </a:prstGeom>
        </p:spPr>
      </p:pic>
      <p:sp>
        <p:nvSpPr>
          <p:cNvPr id="8" name="Téglalap 7">
            <a:extLst>
              <a:ext uri="{FF2B5EF4-FFF2-40B4-BE49-F238E27FC236}">
                <a16:creationId xmlns:a16="http://schemas.microsoft.com/office/drawing/2014/main" id="{B41F2FD8-3976-4718-9472-0E09B979E1CC}"/>
              </a:ext>
            </a:extLst>
          </p:cNvPr>
          <p:cNvSpPr/>
          <p:nvPr/>
        </p:nvSpPr>
        <p:spPr>
          <a:xfrm>
            <a:off x="243190" y="1071157"/>
            <a:ext cx="4671487" cy="1495164"/>
          </a:xfrm>
          <a:prstGeom prst="rect">
            <a:avLst/>
          </a:prstGeom>
          <a:solidFill>
            <a:srgbClr val="FF0000">
              <a:alpha val="6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9CEF6CF-B990-4878-A059-D37BD321644C}"/>
              </a:ext>
            </a:extLst>
          </p:cNvPr>
          <p:cNvSpPr txBox="1"/>
          <p:nvPr/>
        </p:nvSpPr>
        <p:spPr>
          <a:xfrm>
            <a:off x="243191" y="243191"/>
            <a:ext cx="6750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 err="1">
                <a:solidFill>
                  <a:schemeClr val="bg1"/>
                </a:solidFill>
              </a:rPr>
              <a:t>Users</a:t>
            </a:r>
            <a:r>
              <a:rPr lang="hu-HU" sz="3200" dirty="0">
                <a:solidFill>
                  <a:schemeClr val="bg1"/>
                </a:solidFill>
              </a:rPr>
              <a:t> Tábla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D223B4A-1387-4CCA-BE83-BACF14CB0692}"/>
              </a:ext>
            </a:extLst>
          </p:cNvPr>
          <p:cNvSpPr txBox="1"/>
          <p:nvPr/>
        </p:nvSpPr>
        <p:spPr>
          <a:xfrm>
            <a:off x="330740" y="1239539"/>
            <a:ext cx="4328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Felhasználó tábla ahol a felhasználó adatait tároljuk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E5B7E57-648D-4763-A07E-0577E22A9F1D}"/>
              </a:ext>
            </a:extLst>
          </p:cNvPr>
          <p:cNvSpPr txBox="1"/>
          <p:nvPr/>
        </p:nvSpPr>
        <p:spPr>
          <a:xfrm>
            <a:off x="330740" y="1936608"/>
            <a:ext cx="432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</a:rPr>
              <a:t>user_id</a:t>
            </a:r>
            <a:r>
              <a:rPr lang="hu-HU" dirty="0">
                <a:solidFill>
                  <a:schemeClr val="bg1"/>
                </a:solidFill>
              </a:rPr>
              <a:t> a kulcs</a:t>
            </a:r>
          </a:p>
        </p:txBody>
      </p:sp>
    </p:spTree>
    <p:extLst>
      <p:ext uri="{BB962C8B-B14F-4D97-AF65-F5344CB8AC3E}">
        <p14:creationId xmlns:p14="http://schemas.microsoft.com/office/powerpoint/2010/main" val="1864727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B9C273B7-7E05-4471-9C68-7C6896B3A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42F0D6-943D-4101-A2F0-112C00003971}" type="datetime1">
              <a:rPr lang="hu-HU" smtClean="0"/>
              <a:t>2025. 12. 04.</a:t>
            </a:fld>
            <a:endParaRPr lang="en-US"/>
          </a:p>
        </p:txBody>
      </p:sp>
      <p:pic>
        <p:nvPicPr>
          <p:cNvPr id="3" name="Kép 2" descr="Szövetet, asztalt, piros, letakarva ábrázoló kép&#10;&#10;Automatikusan létrehozott leírás">
            <a:extLst>
              <a:ext uri="{FF2B5EF4-FFF2-40B4-BE49-F238E27FC236}">
                <a16:creationId xmlns:a16="http://schemas.microsoft.com/office/drawing/2014/main" id="{F5626A04-44EC-4FC4-99E9-0B1640FFBB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" y="0"/>
            <a:ext cx="12191979" cy="685799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3CB80EA9-1778-40F0-A0EB-3F6280692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102" y="964207"/>
            <a:ext cx="4683063" cy="5070833"/>
          </a:xfrm>
          <a:prstGeom prst="rect">
            <a:avLst/>
          </a:prstGeom>
        </p:spPr>
      </p:pic>
      <p:sp>
        <p:nvSpPr>
          <p:cNvPr id="8" name="Téglalap 7">
            <a:extLst>
              <a:ext uri="{FF2B5EF4-FFF2-40B4-BE49-F238E27FC236}">
                <a16:creationId xmlns:a16="http://schemas.microsoft.com/office/drawing/2014/main" id="{CED30270-2BBA-4DA7-BA55-59B71A61FC97}"/>
              </a:ext>
            </a:extLst>
          </p:cNvPr>
          <p:cNvSpPr/>
          <p:nvPr/>
        </p:nvSpPr>
        <p:spPr>
          <a:xfrm>
            <a:off x="243189" y="243190"/>
            <a:ext cx="4671487" cy="584775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FF0D0FE-D550-4B76-B4FE-46F085B37202}"/>
              </a:ext>
            </a:extLst>
          </p:cNvPr>
          <p:cNvSpPr txBox="1"/>
          <p:nvPr/>
        </p:nvSpPr>
        <p:spPr>
          <a:xfrm>
            <a:off x="243188" y="235213"/>
            <a:ext cx="6750996" cy="584775"/>
          </a:xfrm>
          <a:prstGeom prst="rect">
            <a:avLst/>
          </a:prstGeom>
          <a:solidFill>
            <a:srgbClr val="FF0000">
              <a:alpha val="67000"/>
            </a:srgbClr>
          </a:solidFill>
        </p:spPr>
        <p:txBody>
          <a:bodyPr wrap="square" rtlCol="0">
            <a:spAutoFit/>
          </a:bodyPr>
          <a:lstStyle/>
          <a:p>
            <a:r>
              <a:rPr lang="hu-HU" sz="3200" dirty="0" err="1">
                <a:solidFill>
                  <a:schemeClr val="bg1"/>
                </a:solidFill>
              </a:rPr>
              <a:t>Messages</a:t>
            </a:r>
            <a:r>
              <a:rPr lang="hu-HU" sz="3200" dirty="0">
                <a:solidFill>
                  <a:schemeClr val="bg1"/>
                </a:solidFill>
              </a:rPr>
              <a:t> Tábla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208BB4DC-D0AE-437E-8415-07351880F6C7}"/>
              </a:ext>
            </a:extLst>
          </p:cNvPr>
          <p:cNvSpPr/>
          <p:nvPr/>
        </p:nvSpPr>
        <p:spPr>
          <a:xfrm>
            <a:off x="243190" y="1071157"/>
            <a:ext cx="4671487" cy="1584494"/>
          </a:xfrm>
          <a:prstGeom prst="rect">
            <a:avLst/>
          </a:prstGeom>
          <a:solidFill>
            <a:srgbClr val="FF0000">
              <a:alpha val="6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A9DC33F4-C2D4-468F-B83E-D030EBC29FDE}"/>
              </a:ext>
            </a:extLst>
          </p:cNvPr>
          <p:cNvSpPr txBox="1"/>
          <p:nvPr/>
        </p:nvSpPr>
        <p:spPr>
          <a:xfrm>
            <a:off x="243189" y="1128568"/>
            <a:ext cx="387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Ez a tábla az üzenetekért felel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6C547F0B-DDBA-4601-B16E-E6D09DD41543}"/>
              </a:ext>
            </a:extLst>
          </p:cNvPr>
          <p:cNvSpPr txBox="1"/>
          <p:nvPr/>
        </p:nvSpPr>
        <p:spPr>
          <a:xfrm>
            <a:off x="243188" y="1471741"/>
            <a:ext cx="3745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>
                <a:solidFill>
                  <a:schemeClr val="bg1"/>
                </a:solidFill>
              </a:rPr>
              <a:t>Message_id</a:t>
            </a:r>
            <a:r>
              <a:rPr lang="hu-HU" sz="1600" dirty="0">
                <a:solidFill>
                  <a:schemeClr val="bg1"/>
                </a:solidFill>
              </a:rPr>
              <a:t> az elsődleges kulcs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C0F75730-9CCF-4E2C-A610-70744263D8CF}"/>
              </a:ext>
            </a:extLst>
          </p:cNvPr>
          <p:cNvSpPr txBox="1"/>
          <p:nvPr/>
        </p:nvSpPr>
        <p:spPr>
          <a:xfrm>
            <a:off x="243188" y="1789889"/>
            <a:ext cx="4144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>
                <a:solidFill>
                  <a:schemeClr val="bg1"/>
                </a:solidFill>
              </a:rPr>
              <a:t>User_id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kapcsolodik</a:t>
            </a:r>
            <a:r>
              <a:rPr lang="hu-HU" sz="1600" dirty="0">
                <a:solidFill>
                  <a:schemeClr val="bg1"/>
                </a:solidFill>
              </a:rPr>
              <a:t> a </a:t>
            </a:r>
            <a:r>
              <a:rPr lang="hu-HU" sz="1600" dirty="0" err="1">
                <a:solidFill>
                  <a:schemeClr val="bg1"/>
                </a:solidFill>
              </a:rPr>
              <a:t>userrel</a:t>
            </a:r>
            <a:endParaRPr lang="hu-HU" sz="1600" dirty="0">
              <a:solidFill>
                <a:schemeClr val="bg1"/>
              </a:solidFill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09495045-73BE-46D9-AC51-EB6FE1363C91}"/>
              </a:ext>
            </a:extLst>
          </p:cNvPr>
          <p:cNvSpPr txBox="1"/>
          <p:nvPr/>
        </p:nvSpPr>
        <p:spPr>
          <a:xfrm>
            <a:off x="243188" y="2115516"/>
            <a:ext cx="4243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>
                <a:solidFill>
                  <a:schemeClr val="bg1"/>
                </a:solidFill>
              </a:rPr>
              <a:t>Order_id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orders</a:t>
            </a:r>
            <a:r>
              <a:rPr lang="hu-HU" sz="1600" dirty="0">
                <a:solidFill>
                  <a:schemeClr val="bg1"/>
                </a:solidFill>
              </a:rPr>
              <a:t> táblával </a:t>
            </a:r>
            <a:r>
              <a:rPr lang="hu-HU" sz="1600" dirty="0" err="1">
                <a:solidFill>
                  <a:schemeClr val="bg1"/>
                </a:solidFill>
              </a:rPr>
              <a:t>kapcsolodik</a:t>
            </a:r>
            <a:endParaRPr lang="hu-H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22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6A622C7-23D9-45F7-A3F0-E4109E464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42F0D6-943D-4101-A2F0-112C00003971}" type="datetime1">
              <a:rPr lang="hu-HU" smtClean="0"/>
              <a:t>2025. 12. 04.</a:t>
            </a:fld>
            <a:endParaRPr lang="en-US"/>
          </a:p>
        </p:txBody>
      </p:sp>
      <p:pic>
        <p:nvPicPr>
          <p:cNvPr id="5" name="Kép 4" descr="Szövetet, asztalt, piros, letakarva ábrázoló kép&#10;&#10;Automatikusan létrehozott leírás">
            <a:extLst>
              <a:ext uri="{FF2B5EF4-FFF2-40B4-BE49-F238E27FC236}">
                <a16:creationId xmlns:a16="http://schemas.microsoft.com/office/drawing/2014/main" id="{3E99D886-ED52-475C-B5BB-ACBCB47F0C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4D3EE814-C2E7-42E6-8AFA-174F418CC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292" y="1058717"/>
            <a:ext cx="6483947" cy="4740565"/>
          </a:xfrm>
          <a:prstGeom prst="rect">
            <a:avLst/>
          </a:prstGeom>
        </p:spPr>
      </p:pic>
      <p:sp>
        <p:nvSpPr>
          <p:cNvPr id="7" name="Téglalap 6">
            <a:extLst>
              <a:ext uri="{FF2B5EF4-FFF2-40B4-BE49-F238E27FC236}">
                <a16:creationId xmlns:a16="http://schemas.microsoft.com/office/drawing/2014/main" id="{2419F3BD-E399-44CD-8223-37DA283AFDB1}"/>
              </a:ext>
            </a:extLst>
          </p:cNvPr>
          <p:cNvSpPr/>
          <p:nvPr/>
        </p:nvSpPr>
        <p:spPr>
          <a:xfrm>
            <a:off x="165367" y="141471"/>
            <a:ext cx="4671487" cy="584775"/>
          </a:xfrm>
          <a:prstGeom prst="rect">
            <a:avLst/>
          </a:prstGeom>
          <a:solidFill>
            <a:srgbClr val="FF0000">
              <a:alpha val="6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1E522140-4FD7-4FA5-BDCF-3F209CCB600B}"/>
              </a:ext>
            </a:extLst>
          </p:cNvPr>
          <p:cNvSpPr txBox="1"/>
          <p:nvPr/>
        </p:nvSpPr>
        <p:spPr>
          <a:xfrm>
            <a:off x="165346" y="125418"/>
            <a:ext cx="6750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 err="1">
                <a:solidFill>
                  <a:schemeClr val="bg1"/>
                </a:solidFill>
              </a:rPr>
              <a:t>orders</a:t>
            </a:r>
            <a:r>
              <a:rPr lang="hu-HU" sz="3200" dirty="0">
                <a:solidFill>
                  <a:schemeClr val="bg1"/>
                </a:solidFill>
              </a:rPr>
              <a:t> Tábla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C60FCF7E-8DED-45F4-8CCA-849A2A2DDE5A}"/>
              </a:ext>
            </a:extLst>
          </p:cNvPr>
          <p:cNvSpPr/>
          <p:nvPr/>
        </p:nvSpPr>
        <p:spPr>
          <a:xfrm>
            <a:off x="157735" y="1117780"/>
            <a:ext cx="4671487" cy="2265430"/>
          </a:xfrm>
          <a:prstGeom prst="rect">
            <a:avLst/>
          </a:prstGeom>
          <a:solidFill>
            <a:srgbClr val="FF0000">
              <a:alpha val="6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95F029EF-21C6-407C-8206-B8CB8D84F723}"/>
              </a:ext>
            </a:extLst>
          </p:cNvPr>
          <p:cNvSpPr txBox="1"/>
          <p:nvPr/>
        </p:nvSpPr>
        <p:spPr>
          <a:xfrm>
            <a:off x="165367" y="1294475"/>
            <a:ext cx="4438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Megrendelésért felel amit a </a:t>
            </a:r>
            <a:r>
              <a:rPr lang="hu-HU" dirty="0" err="1">
                <a:solidFill>
                  <a:schemeClr val="bg1"/>
                </a:solidFill>
              </a:rPr>
              <a:t>user</a:t>
            </a:r>
            <a:r>
              <a:rPr lang="hu-HU" dirty="0">
                <a:solidFill>
                  <a:schemeClr val="bg1"/>
                </a:solidFill>
              </a:rPr>
              <a:t> leadott a weboldalon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BEE089B6-AE88-4461-BB1A-078A2558F9BD}"/>
              </a:ext>
            </a:extLst>
          </p:cNvPr>
          <p:cNvSpPr txBox="1"/>
          <p:nvPr/>
        </p:nvSpPr>
        <p:spPr>
          <a:xfrm>
            <a:off x="165346" y="1932954"/>
            <a:ext cx="4438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</a:rPr>
              <a:t>Order_id</a:t>
            </a:r>
            <a:r>
              <a:rPr lang="hu-HU" dirty="0">
                <a:solidFill>
                  <a:schemeClr val="bg1"/>
                </a:solidFill>
              </a:rPr>
              <a:t> az elsődleges kulcs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65EDF8A3-C058-43FD-B67B-DB4DA2486B1C}"/>
              </a:ext>
            </a:extLst>
          </p:cNvPr>
          <p:cNvSpPr txBox="1"/>
          <p:nvPr/>
        </p:nvSpPr>
        <p:spPr>
          <a:xfrm>
            <a:off x="165367" y="2306889"/>
            <a:ext cx="39007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</a:rPr>
              <a:t>User_id</a:t>
            </a:r>
            <a:r>
              <a:rPr lang="hu-HU" dirty="0">
                <a:solidFill>
                  <a:schemeClr val="bg1"/>
                </a:solidFill>
              </a:rPr>
              <a:t> kapcsolódik a </a:t>
            </a:r>
            <a:r>
              <a:rPr lang="hu-HU" dirty="0" err="1">
                <a:solidFill>
                  <a:schemeClr val="bg1"/>
                </a:solidFill>
              </a:rPr>
              <a:t>usertáblához</a:t>
            </a:r>
            <a:r>
              <a:rPr lang="hu-HU" dirty="0">
                <a:solidFill>
                  <a:schemeClr val="bg1"/>
                </a:solidFill>
              </a:rPr>
              <a:t> amihez hozzá lehet rendelni a felhasználót a rendeléséhez</a:t>
            </a:r>
          </a:p>
        </p:txBody>
      </p:sp>
    </p:spTree>
    <p:extLst>
      <p:ext uri="{BB962C8B-B14F-4D97-AF65-F5344CB8AC3E}">
        <p14:creationId xmlns:p14="http://schemas.microsoft.com/office/powerpoint/2010/main" val="3812885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29228DB3-F7E0-44B4-8BF3-8DFFC1105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42F0D6-943D-4101-A2F0-112C00003971}" type="datetime1">
              <a:rPr lang="hu-HU" smtClean="0"/>
              <a:t>2025. 12. 04.</a:t>
            </a:fld>
            <a:endParaRPr lang="en-US"/>
          </a:p>
        </p:txBody>
      </p:sp>
      <p:pic>
        <p:nvPicPr>
          <p:cNvPr id="5" name="Kép 4" descr="Szövetet, asztalt, piros, letakarva ábrázoló kép&#10;&#10;Automatikusan létrehozott leírás">
            <a:extLst>
              <a:ext uri="{FF2B5EF4-FFF2-40B4-BE49-F238E27FC236}">
                <a16:creationId xmlns:a16="http://schemas.microsoft.com/office/drawing/2014/main" id="{090756B0-8093-407F-96F8-9D752717F2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6EA40951-6AC7-4EDC-A2AE-5A5EA14D7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259" y="150270"/>
            <a:ext cx="4820013" cy="6557460"/>
          </a:xfrm>
          <a:prstGeom prst="rect">
            <a:avLst/>
          </a:prstGeom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id="{FEAAB24B-51D8-44F9-A6D2-E3B10AD31E8A}"/>
              </a:ext>
            </a:extLst>
          </p:cNvPr>
          <p:cNvSpPr/>
          <p:nvPr/>
        </p:nvSpPr>
        <p:spPr>
          <a:xfrm>
            <a:off x="397728" y="145914"/>
            <a:ext cx="4235881" cy="525295"/>
          </a:xfrm>
          <a:prstGeom prst="rect">
            <a:avLst/>
          </a:prstGeom>
          <a:solidFill>
            <a:srgbClr val="FF0000">
              <a:alpha val="6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19B046C-54F7-418A-9D97-C3CEEA1B2E74}"/>
              </a:ext>
            </a:extLst>
          </p:cNvPr>
          <p:cNvSpPr txBox="1"/>
          <p:nvPr/>
        </p:nvSpPr>
        <p:spPr>
          <a:xfrm>
            <a:off x="505838" y="230192"/>
            <a:ext cx="428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</a:rPr>
              <a:t>Images</a:t>
            </a:r>
            <a:r>
              <a:rPr lang="hu-HU" dirty="0">
                <a:solidFill>
                  <a:schemeClr val="bg1"/>
                </a:solidFill>
              </a:rPr>
              <a:t> és </a:t>
            </a:r>
            <a:r>
              <a:rPr lang="hu-HU" dirty="0" err="1">
                <a:solidFill>
                  <a:schemeClr val="bg1"/>
                </a:solidFill>
              </a:rPr>
              <a:t>dokuments</a:t>
            </a:r>
            <a:r>
              <a:rPr lang="hu-HU" dirty="0">
                <a:solidFill>
                  <a:schemeClr val="bg1"/>
                </a:solidFill>
              </a:rPr>
              <a:t> tábla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3B8579BA-7276-4C4E-9C6D-341CE3332B9A}"/>
              </a:ext>
            </a:extLst>
          </p:cNvPr>
          <p:cNvSpPr/>
          <p:nvPr/>
        </p:nvSpPr>
        <p:spPr>
          <a:xfrm>
            <a:off x="353440" y="901392"/>
            <a:ext cx="4280169" cy="3680336"/>
          </a:xfrm>
          <a:prstGeom prst="rect">
            <a:avLst/>
          </a:prstGeom>
          <a:solidFill>
            <a:srgbClr val="FF0000">
              <a:alpha val="6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18F0DA4C-E203-402F-8F0E-98BD62BF6F64}"/>
              </a:ext>
            </a:extLst>
          </p:cNvPr>
          <p:cNvSpPr txBox="1"/>
          <p:nvPr/>
        </p:nvSpPr>
        <p:spPr>
          <a:xfrm>
            <a:off x="353440" y="1089497"/>
            <a:ext cx="42801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Szinte ugyan azt csinálja mind kettő tábla, </a:t>
            </a:r>
            <a:r>
              <a:rPr lang="hu-HU" dirty="0" err="1">
                <a:solidFill>
                  <a:schemeClr val="bg1"/>
                </a:solidFill>
              </a:rPr>
              <a:t>images</a:t>
            </a:r>
            <a:r>
              <a:rPr lang="hu-HU" dirty="0">
                <a:solidFill>
                  <a:schemeClr val="bg1"/>
                </a:solidFill>
              </a:rPr>
              <a:t> tábla </a:t>
            </a:r>
            <a:r>
              <a:rPr lang="hu-HU" dirty="0" err="1">
                <a:solidFill>
                  <a:schemeClr val="bg1"/>
                </a:solidFill>
              </a:rPr>
              <a:t>image_datában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longblob</a:t>
            </a:r>
            <a:r>
              <a:rPr lang="hu-HU" dirty="0">
                <a:solidFill>
                  <a:schemeClr val="bg1"/>
                </a:solidFill>
              </a:rPr>
              <a:t> adat típusban tároljuk a </a:t>
            </a:r>
            <a:r>
              <a:rPr lang="hu-HU" dirty="0" err="1">
                <a:solidFill>
                  <a:schemeClr val="bg1"/>
                </a:solidFill>
              </a:rPr>
              <a:t>képket</a:t>
            </a:r>
            <a:r>
              <a:rPr lang="hu-HU" dirty="0">
                <a:solidFill>
                  <a:schemeClr val="bg1"/>
                </a:solidFill>
              </a:rPr>
              <a:t> amit a felhasználó tölt fel</a:t>
            </a:r>
          </a:p>
          <a:p>
            <a:endParaRPr lang="hu-HU" dirty="0">
              <a:solidFill>
                <a:schemeClr val="bg1"/>
              </a:solidFill>
            </a:endParaRPr>
          </a:p>
          <a:p>
            <a:r>
              <a:rPr lang="hu-HU" dirty="0" err="1">
                <a:solidFill>
                  <a:schemeClr val="bg1"/>
                </a:solidFill>
              </a:rPr>
              <a:t>Dokuments</a:t>
            </a:r>
            <a:r>
              <a:rPr lang="hu-HU" dirty="0">
                <a:solidFill>
                  <a:schemeClr val="bg1"/>
                </a:solidFill>
              </a:rPr>
              <a:t> táblában </a:t>
            </a:r>
            <a:r>
              <a:rPr lang="hu-HU" dirty="0" err="1">
                <a:solidFill>
                  <a:schemeClr val="bg1"/>
                </a:solidFill>
              </a:rPr>
              <a:t>document_data</a:t>
            </a:r>
            <a:r>
              <a:rPr lang="hu-HU" dirty="0">
                <a:solidFill>
                  <a:schemeClr val="bg1"/>
                </a:solidFill>
              </a:rPr>
              <a:t> tárolja azokat amiket a felhasználó </a:t>
            </a:r>
            <a:r>
              <a:rPr lang="hu-HU" dirty="0" err="1">
                <a:solidFill>
                  <a:schemeClr val="bg1"/>
                </a:solidFill>
              </a:rPr>
              <a:t>word</a:t>
            </a:r>
            <a:r>
              <a:rPr lang="hu-HU" dirty="0">
                <a:solidFill>
                  <a:schemeClr val="bg1"/>
                </a:solidFill>
              </a:rPr>
              <a:t> egyéb dokumentumot feltölt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5D8453FE-7D96-43E8-9899-277D1A8002CF}"/>
              </a:ext>
            </a:extLst>
          </p:cNvPr>
          <p:cNvSpPr txBox="1"/>
          <p:nvPr/>
        </p:nvSpPr>
        <p:spPr>
          <a:xfrm>
            <a:off x="353440" y="3666609"/>
            <a:ext cx="4455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Felhasználó több képet és dokumentumot tud feltölteni</a:t>
            </a:r>
          </a:p>
        </p:txBody>
      </p:sp>
    </p:spTree>
    <p:extLst>
      <p:ext uri="{BB962C8B-B14F-4D97-AF65-F5344CB8AC3E}">
        <p14:creationId xmlns:p14="http://schemas.microsoft.com/office/powerpoint/2010/main" val="35610485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27_TF56410444" id="{8D3809E1-149C-4517-A9A7-9F27100F8A17}" vid="{4183686B-09B9-44C9-8D08-41C3CEA21EB0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{071016B8-8CE6-4A00-8463-E6435CA4ED44}TF6ca04e33-feaa-4cf5-9b27-d56362f12ac06586088c_win32-39147f64aa7e</Template>
  <TotalTime>132</TotalTime>
  <Words>172</Words>
  <Application>Microsoft Office PowerPoint</Application>
  <PresentationFormat>Szélesvásznú</PresentationFormat>
  <Paragraphs>39</Paragraphs>
  <Slides>9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5" baseType="lpstr">
      <vt:lpstr>Arial</vt:lpstr>
      <vt:lpstr>Avenir Next LT Pro</vt:lpstr>
      <vt:lpstr>Avenir Next LT Pro Light</vt:lpstr>
      <vt:lpstr>Calibri</vt:lpstr>
      <vt:lpstr>Garamond</vt:lpstr>
      <vt:lpstr>SavonVTI</vt:lpstr>
      <vt:lpstr>MasterCheif ( Nexusdev) Adatbázis 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MasterCheid</dc:title>
  <dc:creator>Farkas Miklós Tibor 171</dc:creator>
  <cp:lastModifiedBy>Medgyes Vendel 066</cp:lastModifiedBy>
  <cp:revision>9</cp:revision>
  <dcterms:created xsi:type="dcterms:W3CDTF">2025-12-03T07:59:01Z</dcterms:created>
  <dcterms:modified xsi:type="dcterms:W3CDTF">2025-12-04T08:58:24Z</dcterms:modified>
</cp:coreProperties>
</file>